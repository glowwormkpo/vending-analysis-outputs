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HpPD5iZ3GX7U6TciaH4xnswNV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Dispensed units</c:v>
          </c:tx>
          <c:spPr>
            <a:solidFill xmlns:a="http://schemas.openxmlformats.org/drawingml/2006/main">
              <a:srgbClr val="000000"/>
            </a:solidFill>
          </c:spPr>
          <c:dLbls/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General</c:formatCode>
              <c:ptCount val="12"/>
              <c:pt idx="0">
                <c:v>26269</c:v>
              </c:pt>
              <c:pt idx="1">
                <c:v>19901</c:v>
              </c:pt>
              <c:pt idx="2">
                <c:v>24639</c:v>
              </c:pt>
              <c:pt idx="3">
                <c:v>23708</c:v>
              </c:pt>
              <c:pt idx="4">
                <c:v>24847</c:v>
              </c:pt>
              <c:pt idx="5">
                <c:v>25608</c:v>
              </c:pt>
              <c:pt idx="6">
                <c:v>27931</c:v>
              </c:pt>
              <c:pt idx="7">
                <c:v>28873</c:v>
              </c:pt>
              <c:pt idx="8">
                <c:v>24984</c:v>
              </c:pt>
              <c:pt idx="9">
                <c:v>27812</c:v>
              </c:pt>
              <c:pt idx="10">
                <c:v>30960</c:v>
              </c:pt>
              <c:pt idx="11">
                <c:v>31996</c:v>
              </c:pt>
            </c:numLit>
          </c:val>
        </c:ser>
        <c:dLbls>
          <c:showVal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Total dispensed</c:v>
          </c:tx>
          <c:spPr>
            <a:solidFill xmlns:a="http://schemas.openxmlformats.org/drawingml/2006/main">
              <a:srgbClr val="FF6B35"/>
            </a:solidFill>
          </c:spPr>
          <c:dLbls/>
          <c:cat>
            <c:strLit>
              <c:ptCount val="6"/>
              <c:pt idx="0">
                <c:v>SKU 1</c:v>
              </c:pt>
              <c:pt idx="1">
                <c:v>SKU 2</c:v>
              </c:pt>
              <c:pt idx="2">
                <c:v>SKU 3</c:v>
              </c:pt>
              <c:pt idx="3">
                <c:v>SKU 4</c:v>
              </c:pt>
              <c:pt idx="4">
                <c:v>SKU 5</c:v>
              </c:pt>
              <c:pt idx="5">
                <c:v>SKU 6</c:v>
              </c:pt>
            </c:strLit>
          </c:cat>
          <c:val>
            <c:numLit>
              <c:formatCode>General</c:formatCode>
              <c:ptCount val="6"/>
              <c:pt idx="0">
                <c:v>21845</c:v>
              </c:pt>
              <c:pt idx="1">
                <c:v>17273</c:v>
              </c:pt>
              <c:pt idx="2">
                <c:v>16395</c:v>
              </c:pt>
              <c:pt idx="3">
                <c:v>16083</c:v>
              </c:pt>
              <c:pt idx="4">
                <c:v>14683</c:v>
              </c:pt>
              <c:pt idx="5">
                <c:v>13167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Dispensed units</c:v>
          </c:tx>
          <c:spPr>
            <a:solidFill xmlns:a="http://schemas.openxmlformats.org/drawingml/2006/main">
              <a:srgbClr val="000000"/>
            </a:solidFill>
          </c:spPr>
          <c:dLbls/>
          <c:cat>
            <c:strLit>
              <c:ptCount val="5"/>
              <c:pt idx="0">
                <c:v>Device 1</c:v>
              </c:pt>
              <c:pt idx="1">
                <c:v>Device 2</c:v>
              </c:pt>
              <c:pt idx="2">
                <c:v>Device 3</c:v>
              </c:pt>
              <c:pt idx="3">
                <c:v>Device 4</c:v>
              </c:pt>
              <c:pt idx="4">
                <c:v>Device 5</c:v>
              </c:pt>
            </c:strLit>
          </c:cat>
          <c:val>
            <c:numLit>
              <c:formatCode>General</c:formatCode>
              <c:ptCount val="5"/>
              <c:pt idx="0">
                <c:v>70397</c:v>
              </c:pt>
              <c:pt idx="1">
                <c:v>67741</c:v>
              </c:pt>
              <c:pt idx="2">
                <c:v>61034</c:v>
              </c:pt>
              <c:pt idx="3">
                <c:v>59568</c:v>
              </c:pt>
              <c:pt idx="4">
                <c:v>58788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5" name="Google Shape;10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8" name="Google Shape;11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0" name="Google Shape;14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00050" y="819150"/>
            <a:ext cx="7239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Industrial Vending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Demand Forecasting</a:t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00050" y="2876550"/>
            <a:ext cx="6477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Forecasting demand, identifying high-risk inventory patterns, and translating data into restocking decisions.</a:t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058150" y="0"/>
            <a:ext cx="3733800" cy="6858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324850" y="876300"/>
            <a:ext cx="2857500" cy="1219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8496300" y="1066800"/>
            <a:ext cx="2514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38,982</a:t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8496300" y="1657350"/>
            <a:ext cx="2514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inventory records</a:t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8324850" y="2362200"/>
            <a:ext cx="2857500" cy="1219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8496300" y="2552700"/>
            <a:ext cx="2514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82</a:t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8496300" y="3143250"/>
            <a:ext cx="2514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unique SKUs</a:t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8324850" y="3848100"/>
            <a:ext cx="2857500" cy="1219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8496300" y="4038600"/>
            <a:ext cx="2514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8496300" y="4629150"/>
            <a:ext cx="2514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vending devices</a:t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324850" y="5619750"/>
            <a:ext cx="285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2022-02-23 to 2024-02-23</a:t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8324850" y="5962650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dispense history analyzed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400050" y="323850"/>
            <a:ext cx="590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Industrial vending demand forecasting</a:t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00050" y="742950"/>
            <a:ext cx="9620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workflow turns transaction history into restocking guidance</a:t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00050" y="1657350"/>
            <a:ext cx="11391900" cy="9525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14350" y="2476500"/>
            <a:ext cx="1809750" cy="20955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685800" y="2686050"/>
            <a:ext cx="476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85800" y="3086100"/>
            <a:ext cx="1428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Clean</a:t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85800" y="3676650"/>
            <a:ext cx="1428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Remove duplicates, parse dates, and validate numeric quantity and spend fields.</a:t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2781300" y="2476500"/>
            <a:ext cx="1809750" cy="20955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2952750" y="2686050"/>
            <a:ext cx="476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2952750" y="3086100"/>
            <a:ext cx="1428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Explore</a:t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2952750" y="3676650"/>
            <a:ext cx="1428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Summarize demand by SKU, device, date, month, and weekday.</a:t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048250" y="2476500"/>
            <a:ext cx="1809750" cy="20955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219700" y="2686050"/>
            <a:ext cx="476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5219700" y="3086100"/>
            <a:ext cx="1428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Engineer</a:t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5219700" y="3676650"/>
            <a:ext cx="1428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Create calendar, lag, and rolling-average features for time-series modeling.</a:t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7315200" y="2476500"/>
            <a:ext cx="1809750" cy="2095500"/>
          </a:xfrm>
          <a:prstGeom prst="rect">
            <a:avLst/>
          </a:prstGeom>
          <a:solidFill>
            <a:srgbClr val="FFE5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7486650" y="2686050"/>
            <a:ext cx="476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7486650" y="3086100"/>
            <a:ext cx="1428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Forecast</a:t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7486650" y="3676650"/>
            <a:ext cx="1428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Evaluate a transparent 7-day rolling-average model on the final 30 days.</a:t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9582150" y="2476500"/>
            <a:ext cx="1809750" cy="20955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9753600" y="2686050"/>
            <a:ext cx="476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9753600" y="3086100"/>
            <a:ext cx="1428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Recommend</a:t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9753600" y="3676650"/>
            <a:ext cx="1428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Convert expected demand into reorder points and weekly restock quantities.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400050" y="323850"/>
            <a:ext cx="590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Industrial vending demand forecasting</a:t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00050" y="742950"/>
            <a:ext cx="9620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Demand history is large enough for trend analysis but still operationally volatile</a:t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00050" y="1657350"/>
            <a:ext cx="11391900" cy="9525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514350" y="2152650"/>
            <a:ext cx="2381250" cy="1219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85800" y="2343150"/>
            <a:ext cx="2038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317,528</a:t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685800" y="2933700"/>
            <a:ext cx="2038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units dispensed</a:t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3143250" y="2152650"/>
            <a:ext cx="2095500" cy="1219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3314700" y="2343150"/>
            <a:ext cx="1752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722</a:t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3314700" y="29337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restock orders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5486400" y="2152650"/>
            <a:ext cx="2381250" cy="1219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5657850" y="2343150"/>
            <a:ext cx="2038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$196.8K</a:t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5657850" y="2933700"/>
            <a:ext cx="2038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restock spend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8115300" y="2152650"/>
            <a:ext cx="2095500" cy="1219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8286750" y="2343150"/>
            <a:ext cx="1752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8286750" y="29337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723900" y="4095750"/>
            <a:ext cx="10001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Inventory data contains daily demand signal by SKU and machine.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Restock data records order timing and spend, not item-level restocked units.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This makes demand forecasting stronger than direct replenishment-quantity modeling.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400050" y="323850"/>
            <a:ext cx="590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Industrial vending demand forecasting</a:t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400050" y="742950"/>
            <a:ext cx="9620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Monthly demand shows visible seasonality and changing operating levels</a:t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00050" y="1657350"/>
            <a:ext cx="11391900" cy="9525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7" name="Google Shape;87;p4"/>
          <p:cNvGraphicFramePr/>
          <p:nvPr/>
        </p:nvGraphicFramePr>
        <p:xfrm>
          <a:off x="666750" y="2190750"/>
          <a:ext cx="7048500" cy="35242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88" name="Google Shape;88;p4"/>
          <p:cNvSpPr/>
          <p:nvPr/>
        </p:nvSpPr>
        <p:spPr>
          <a:xfrm>
            <a:off x="8191500" y="2266950"/>
            <a:ext cx="2952750" cy="27051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8458200" y="2571750"/>
            <a:ext cx="2286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8458200" y="3105150"/>
            <a:ext cx="2324100" cy="1352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Restocking should respond to calendar patterns, not only average demand.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Rolling averages smooth noisy daily movement and expose planning direction.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SKU-level seasonality can refine safety stock for high-turnover items.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/>
          <p:nvPr/>
        </p:nvSpPr>
        <p:spPr>
          <a:xfrm>
            <a:off x="400050" y="323850"/>
            <a:ext cx="590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Industrial vending demand forecasting</a:t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400050" y="742950"/>
            <a:ext cx="9620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small set of SKUs drives a large share of replenishment pressure</a:t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400050" y="1657350"/>
            <a:ext cx="11391900" cy="9525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9" name="Google Shape;99;p5"/>
          <p:cNvGraphicFramePr/>
          <p:nvPr/>
        </p:nvGraphicFramePr>
        <p:xfrm>
          <a:off x="685800" y="2171700"/>
          <a:ext cx="6286500" cy="33528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00" name="Google Shape;100;p5"/>
          <p:cNvSpPr/>
          <p:nvPr/>
        </p:nvSpPr>
        <p:spPr>
          <a:xfrm>
            <a:off x="7734300" y="2400300"/>
            <a:ext cx="295275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Top SKU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21,845 units</a:t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7734300" y="3695700"/>
            <a:ext cx="295275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High-turnover SKUs should be reviewed first for reorder points, slot allocation, and safety stock.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00050" y="323850"/>
            <a:ext cx="590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Industrial vending demand forecasting</a:t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400050" y="742950"/>
            <a:ext cx="9620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Machine utilization is balanced, but the top two devices deserve closer monitoring</a:t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400050" y="1657350"/>
            <a:ext cx="11391900" cy="9525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0" name="Google Shape;110;p6"/>
          <p:cNvGraphicFramePr/>
          <p:nvPr/>
        </p:nvGraphicFramePr>
        <p:xfrm>
          <a:off x="685800" y="2171700"/>
          <a:ext cx="6477000" cy="33528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11" name="Google Shape;111;p6"/>
          <p:cNvSpPr/>
          <p:nvPr/>
        </p:nvSpPr>
        <p:spPr>
          <a:xfrm>
            <a:off x="7810500" y="2476500"/>
            <a:ext cx="2857500" cy="1219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7981950" y="2667000"/>
            <a:ext cx="2514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43.5%</a:t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7981950" y="3257550"/>
            <a:ext cx="2514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share from top two devices</a:t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7810500" y="4095750"/>
            <a:ext cx="314325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Higher-use machines face greater stockout risk.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Underused machines may need SKU mix or placement review.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Device-level forecasts can turn aggregate demand into route planning.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/>
          <p:nvPr/>
        </p:nvSpPr>
        <p:spPr>
          <a:xfrm>
            <a:off x="400050" y="323850"/>
            <a:ext cx="590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Industrial vending demand forecasting</a:t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400050" y="742950"/>
            <a:ext cx="9620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baseline forecast is useful, but the error confirms demand variability</a:t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00050" y="1657350"/>
            <a:ext cx="11391900" cy="9525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704850" y="2286000"/>
            <a:ext cx="2381250" cy="1219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876300" y="2476500"/>
            <a:ext cx="2038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145.2</a:t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876300" y="3067050"/>
            <a:ext cx="2038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3352800" y="2286000"/>
            <a:ext cx="2381250" cy="1219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3524250" y="2476500"/>
            <a:ext cx="2038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280.3</a:t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3524250" y="3067050"/>
            <a:ext cx="2038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6000750" y="2286000"/>
            <a:ext cx="2381250" cy="1219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172200" y="2476500"/>
            <a:ext cx="2038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60.5%</a:t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172200" y="3067050"/>
            <a:ext cx="2038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MAPE</a:t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8896350" y="2190750"/>
            <a:ext cx="2381250" cy="2647950"/>
          </a:xfrm>
          <a:prstGeom prst="rect">
            <a:avLst/>
          </a:prstGeom>
          <a:solidFill>
            <a:srgbClr val="FFE5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9144000" y="24955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Model used</a:t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9144000" y="2971800"/>
            <a:ext cx="16954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7-day rolling average</a:t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9144000" y="3943350"/>
            <a:ext cx="1695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 transparent benchmark before moving to SKU/device-level models.</a:t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762000" y="5334000"/>
            <a:ext cx="9429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Same-day demand correlations: restock events -0.280, restock spend -0.249. Lagged relationships should be tested next.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/>
          <p:nvPr/>
        </p:nvSpPr>
        <p:spPr>
          <a:xfrm>
            <a:off x="400050" y="323850"/>
            <a:ext cx="590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Industrial vending demand forecasting</a:t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400050" y="742950"/>
            <a:ext cx="9620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Inventory decisions should focus on priority SKUs, service buffers, and better granularity</a:t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400050" y="1657350"/>
            <a:ext cx="11391900" cy="9525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666750" y="2209800"/>
            <a:ext cx="3429000" cy="25717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914400" y="2495550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Immediate recommendation</a:t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914400" y="3048000"/>
            <a:ext cx="23812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192 units</a:t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914400" y="3829050"/>
            <a:ext cx="25527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reorder point for the highest-turnover SKU, using 7-day lead time and 20% buffer</a:t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4953000" y="2266950"/>
            <a:ext cx="5810250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Add current on-hand inventory by SKU and device.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Forecast the top SKUs separately instead of only aggregate demand.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Use safety-stock rules for high-variance products.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Study lagged restock effects to improve timing.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Monitor the top two devices more frequently.</a:t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4953000" y="5105400"/>
            <a:ext cx="6096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Practical implication: the baseline model is enough to start prioritizing restock attention, but operational deployment should use SKU/device-level demand and live inventory balances.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